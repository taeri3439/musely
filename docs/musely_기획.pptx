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9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11481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musely — 성분 기반 화장품·향수 추천 서비스. AI 개발자와 백엔드 학습자 2인이 4주간 진행하는 사이드 프로젝트입니다.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 정의: 선택지 부족이 아니라 필터링 수단의 부재. 그래서 musely는 추천 엔진이 아니라 제외 엔진에서 출발합니다.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가지 원칙이 화면 설계와 AI 파이프라인 설계 모두의 기준이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에이전트 4종. 기피 성분 필터링과 성분 충돌 검수는 LLM 판단에 맡기지 않고 코드로 처리합니다. LLM은 마지막 설명 문장 생성만 담당합니다.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임베딩은 부정 표현을 거의 담지 못합니다. 그래서 기피 성분 같은 하드 제약은 벡터 검색이 아니라 메타데이터 필터로 사전 차단합니다.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동기 호출은 타임아웃이라는 하드 리밋이 걸리고, MQ는 이 규모에 과합니다. job + 폴링이 중간 지점입니다.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혼자 만들던 것을 둘이서, 경계를 나눠서, 검증 가능하게 만드는 것이 이 프로젝트의 목표입니다.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29800" y="960120"/>
            <a:ext cx="1371600" cy="1371600"/>
          </a:xfrm>
          <a:prstGeom prst="rect">
            <a:avLst/>
          </a:prstGeom>
          <a:solidFill>
            <a:srgbClr val="0A0A0A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22408" y="1252728"/>
            <a:ext cx="1371600" cy="1371600"/>
          </a:xfrm>
          <a:prstGeom prst="rect">
            <a:avLst/>
          </a:prstGeom>
          <a:solidFill>
            <a:srgbClr val="0A0A0A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15016" y="1545336"/>
            <a:ext cx="1371600" cy="1371600"/>
          </a:xfrm>
          <a:prstGeom prst="rect">
            <a:avLst/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2860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musely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7033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성분과 취향을 근거로 추천하는 화장품 · 향수 큐레이션 서비스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5120640"/>
            <a:ext cx="292608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53035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3인 사이드 프로젝트</a:t>
            </a:r>
            <a:endParaRPr lang="en-US" sz="1250" dirty="0"/>
          </a:p>
          <a:p>
            <a:pPr>
              <a:lnSpc>
                <a:spcPts val="2000"/>
              </a:lnSpc>
            </a:pPr>
            <a:r>
              <a:rPr lang="en-US" sz="12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김나연 (AI) · 성미 (</a:t>
            </a:r>
            <a:r>
              <a:rPr lang="en-US" sz="1250" dirty="0" err="1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백엔드</a:t>
            </a:r>
            <a:r>
              <a:rPr lang="en-US" sz="12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altLang="ko-KR" sz="12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ko-KR" altLang="en-US" sz="12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소연 </a:t>
            </a:r>
            <a:r>
              <a:rPr lang="en-US" altLang="ko-KR" sz="12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ko-KR" altLang="en-US" sz="12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</a:t>
            </a:r>
            <a:r>
              <a:rPr lang="en-US" altLang="ko-KR" sz="12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25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2026.09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0352"/>
            <a:ext cx="118872" cy="118872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23544" y="4297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84124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목차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109270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288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DCDC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185623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문제와 해결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691640" y="21945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화장품을 고를 때 실제로 겪는 문제와 musely의 접근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2697480"/>
            <a:ext cx="10789920" cy="0"/>
          </a:xfrm>
          <a:prstGeom prst="line">
            <a:avLst/>
          </a:prstGeom>
          <a:noFill/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898648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DCDC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29260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제품 설계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26440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유저 플로우와 화면 구성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85800" y="3767328"/>
            <a:ext cx="10789920" cy="0"/>
          </a:xfrm>
          <a:prstGeom prst="line">
            <a:avLst/>
          </a:prstGeom>
          <a:noFill/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968496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DCDC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39959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시스템 설계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433425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아키텍처, AI 파이프라인, 핵심 기술 판단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85800" y="4837176"/>
            <a:ext cx="10789920" cy="0"/>
          </a:xfrm>
          <a:prstGeom prst="line">
            <a:avLst/>
          </a:prstGeom>
          <a:noFill/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5038344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DCDC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1691640" y="506577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실행 계획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5404104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 스택, 4주 일정, 역할 분담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85800" y="5907024"/>
            <a:ext cx="10789920" cy="0"/>
          </a:xfrm>
          <a:prstGeom prst="line">
            <a:avLst/>
          </a:prstGeom>
          <a:noFill/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9202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454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3832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문제와 해결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4160520"/>
            <a:ext cx="6473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사용자가 실제로 막히는 지점과 musely의 접근 방식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0352"/>
            <a:ext cx="118872" cy="118872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23544" y="4297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84124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문제는 “좋은 제품을 모르는 것”이 아니다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54480"/>
            <a:ext cx="77687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사람들이 화장품 앞에서 실제로 막히는 건 선택지가 없어서가 아니라, 내게 맞지 않는 것을 걸러낼 방법이 없어서다.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109270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2468880"/>
            <a:ext cx="3413760" cy="2377440"/>
          </a:xfrm>
          <a:prstGeom prst="roundRect">
            <a:avLst>
              <a:gd name="adj" fmla="val 2308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2697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A9A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154680"/>
            <a:ext cx="277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성분표를 읽을 수 없다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3657600"/>
            <a:ext cx="277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전성분은 공개돼 있지만 30~50개 성분을 매번 확인하는 건 현실적이지 않다.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73880" y="2468880"/>
            <a:ext cx="3413760" cy="2377440"/>
          </a:xfrm>
          <a:prstGeom prst="roundRect">
            <a:avLst>
              <a:gd name="adj" fmla="val 2308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93920" y="2697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A9A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693920" y="3154680"/>
            <a:ext cx="277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조합을 모른다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693920" y="3657600"/>
            <a:ext cx="277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레티놀을 쓰는 중인데 새로 산 각질 제거제를 같이 써도 되는지 판단할 근거가 없다.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61960" y="2468880"/>
            <a:ext cx="3413760" cy="2377440"/>
          </a:xfrm>
          <a:prstGeom prst="roundRect">
            <a:avLst>
              <a:gd name="adj" fmla="val 2308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0" y="2697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A9A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382000" y="3154680"/>
            <a:ext cx="277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추천에 이유가 없다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382000" y="3657600"/>
            <a:ext cx="277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인기순·평점순 목록은 “왜 나에게 맞는지”를 말해주지 않는다.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3492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i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결론 — 추천보다 먼저 필요한 것은 “제외”다.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0352"/>
            <a:ext cx="118872" cy="118872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23544" y="4297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84124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musely가 하는 일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109270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5800" y="1691640"/>
            <a:ext cx="10789920" cy="1371600"/>
          </a:xfrm>
          <a:prstGeom prst="roundRect">
            <a:avLst>
              <a:gd name="adj" fmla="val 4000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182880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6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내 피부 타입과 향 취향을 한 번 등록해두면,
화장품과 향수를 </a:t>
            </a: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이유와 함께</a:t>
            </a: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추천받는 서비스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3493008"/>
            <a:ext cx="100584" cy="10058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23544" y="338328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제약을 타협하지 않는다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069080" y="3383280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기피 성분이 들어간 제품은 어떤 경우에도 결과에 나오지 않는다. 조건에 맞는 게 없으면 “없다”고 말한다.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5800" y="4187952"/>
            <a:ext cx="10789920" cy="0"/>
          </a:xfrm>
          <a:prstGeom prst="line">
            <a:avLst/>
          </a:prstGeom>
          <a:noFill/>
          <a:ln w="12700">
            <a:solidFill>
              <a:srgbClr val="DCDC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4453128"/>
            <a:ext cx="100584" cy="10058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3544" y="434340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단정하지 않는다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069080" y="4343400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“이 제품이 좋아요”가 아니라 “이런 이유로 맞을 수 있어요”. 의학적 효능을 단언하지 않는다.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85800" y="5148072"/>
            <a:ext cx="10789920" cy="0"/>
          </a:xfrm>
          <a:prstGeom prst="line">
            <a:avLst/>
          </a:prstGeom>
          <a:noFill/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5413248"/>
            <a:ext cx="100584" cy="10058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3544" y="530352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근거를 항상 같이 준다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069080" y="5303520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추천 항목에는 왜 뽑혔는지가 한 줄씩 붙는다. 이것이 없으면 그냥 제품 목록이다.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0352"/>
            <a:ext cx="118872" cy="118872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23544" y="4297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84124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기존 추천과 무엇이 다른가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109270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5800" y="1737360"/>
            <a:ext cx="5212080" cy="548640"/>
          </a:xfrm>
          <a:prstGeom prst="roundRect">
            <a:avLst>
              <a:gd name="adj" fmla="val 10000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73736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일반적인 추천 서비스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737360"/>
            <a:ext cx="5212080" cy="548640"/>
          </a:xfrm>
          <a:prstGeom prst="roundRect">
            <a:avLst>
              <a:gd name="adj" fmla="val 10000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63640" y="173736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musely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4688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정렬 기준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743200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인기순 · 평점순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743200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제약 조건을 통과한 것만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3310128"/>
            <a:ext cx="5212080" cy="0"/>
          </a:xfrm>
          <a:prstGeom prst="line">
            <a:avLst/>
          </a:prstGeom>
          <a:noFill/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3310128"/>
            <a:ext cx="5212080" cy="0"/>
          </a:xfrm>
          <a:prstGeom prst="line">
            <a:avLst/>
          </a:prstGeom>
          <a:noFill/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33832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추천 근거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657600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제시하지 않음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3657600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“이 성분이 없어서 골랐어요”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5800" y="4224528"/>
            <a:ext cx="5212080" cy="0"/>
          </a:xfrm>
          <a:prstGeom prst="line">
            <a:avLst/>
          </a:prstGeom>
          <a:noFill/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63640" y="4224528"/>
            <a:ext cx="5212080" cy="0"/>
          </a:xfrm>
          <a:prstGeom prst="line">
            <a:avLst/>
          </a:prstGeom>
          <a:noFill/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2976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조합 주의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4572000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다루지 않음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4572000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쓰는 성분과의 조합 안내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85800" y="5138928"/>
            <a:ext cx="5212080" cy="0"/>
          </a:xfrm>
          <a:prstGeom prst="line">
            <a:avLst/>
          </a:prstGeom>
          <a:noFill/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63640" y="5138928"/>
            <a:ext cx="5212080" cy="0"/>
          </a:xfrm>
          <a:prstGeom prst="line">
            <a:avLst/>
          </a:prstGeom>
          <a:noFill/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5212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결과가 없을 때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5486400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빈 목록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263640" y="5486400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어떤 조건이 걸렸는지 안내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85800" y="6053328"/>
            <a:ext cx="5212080" cy="0"/>
          </a:xfrm>
          <a:prstGeom prst="line">
            <a:avLst/>
          </a:prstGeom>
          <a:noFill/>
          <a:ln w="12700">
            <a:solidFill>
              <a:srgbClr val="DCDC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63640" y="6053328"/>
            <a:ext cx="5212080" cy="0"/>
          </a:xfrm>
          <a:prstGeom prst="line">
            <a:avLst/>
          </a:prstGeom>
          <a:noFill/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9202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454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3832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제품 설계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4160520"/>
            <a:ext cx="6473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사용자가 지나가는 경로와 화면 구성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0352"/>
            <a:ext cx="118872" cy="118872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23544" y="4297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FLOW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84124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유저 플로우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54480"/>
            <a:ext cx="77687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프로필은 한 번만 등록하고, 이후에는 두 번의 탭으로 추천을 받는다.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109270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2240280"/>
            <a:ext cx="1965960" cy="1920240"/>
          </a:xfrm>
          <a:prstGeom prst="roundRect">
            <a:avLst>
              <a:gd name="adj" fmla="val 2857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423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A9A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7889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프로필 등록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20040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피부 타입 · 고민</a:t>
            </a: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기피 성분 · 사용 중 성분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652903" y="3090672"/>
            <a:ext cx="237744" cy="201168"/>
          </a:xfrm>
          <a:prstGeom prst="rightArrow">
            <a:avLst/>
          </a:prstGeom>
          <a:solidFill>
            <a:srgbClr val="9A9A9A"/>
          </a:solidFill>
          <a:ln w="12700">
            <a:solidFill>
              <a:srgbClr val="9A9A9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91790" y="2240280"/>
            <a:ext cx="1965960" cy="1920240"/>
          </a:xfrm>
          <a:prstGeom prst="roundRect">
            <a:avLst>
              <a:gd name="adj" fmla="val 2857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20390" y="2423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A9A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120390" y="27889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추천 종류 선택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3120390" y="320040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화장품 / 향수 / 둘 다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58893" y="3090672"/>
            <a:ext cx="237744" cy="201168"/>
          </a:xfrm>
          <a:prstGeom prst="rightArrow">
            <a:avLst/>
          </a:prstGeom>
          <a:solidFill>
            <a:srgbClr val="9A9A9A"/>
          </a:solidFill>
          <a:ln w="12700">
            <a:solidFill>
              <a:srgbClr val="9A9A9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97780" y="2240280"/>
            <a:ext cx="1965960" cy="1920240"/>
          </a:xfrm>
          <a:prstGeom prst="roundRect">
            <a:avLst>
              <a:gd name="adj" fmla="val 2857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26380" y="2423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A9A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5326380" y="27889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추천 진행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5326380" y="320040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5~10초</a:t>
            </a: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단계 표시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064883" y="3090672"/>
            <a:ext cx="237744" cy="201168"/>
          </a:xfrm>
          <a:prstGeom prst="rightArrow">
            <a:avLst/>
          </a:prstGeom>
          <a:solidFill>
            <a:srgbClr val="9A9A9A"/>
          </a:solidFill>
          <a:ln w="12700">
            <a:solidFill>
              <a:srgbClr val="9A9A9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03770" y="2240280"/>
            <a:ext cx="1965960" cy="1920240"/>
          </a:xfrm>
          <a:prstGeom prst="roundRect">
            <a:avLst>
              <a:gd name="adj" fmla="val 2857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32370" y="2423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A9A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532370" y="27889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결과 확인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7532370" y="320040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제품 + 추천 이유</a:t>
            </a: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조합 주의사항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270873" y="3090672"/>
            <a:ext cx="237744" cy="201168"/>
          </a:xfrm>
          <a:prstGeom prst="rightArrow">
            <a:avLst/>
          </a:prstGeom>
          <a:solidFill>
            <a:srgbClr val="9A9A9A"/>
          </a:solidFill>
          <a:ln w="12700">
            <a:solidFill>
              <a:srgbClr val="9A9A9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509760" y="2240280"/>
            <a:ext cx="1965960" cy="1920240"/>
          </a:xfrm>
          <a:prstGeom prst="roundRect">
            <a:avLst>
              <a:gd name="adj" fmla="val 2857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738360" y="24231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A9A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738360" y="27889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피드백</a:t>
            </a:r>
            <a:endParaRPr lang="en-US" sz="1450" dirty="0"/>
          </a:p>
        </p:txBody>
      </p:sp>
      <p:sp>
        <p:nvSpPr>
          <p:cNvPr id="30" name="Text 28"/>
          <p:cNvSpPr txBox="1"/>
          <p:nvPr/>
        </p:nvSpPr>
        <p:spPr>
          <a:xfrm>
            <a:off x="9738360" y="320040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좋아요 / 아쉬워요</a:t>
            </a: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히스토리 저장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452628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재방문 시에는 프로필 단계를 건너뛰고 홈에서 바로 시작한다.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507492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조건에 맞는 제품이 없을 때 — </a:t>
            </a: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빈 목록이 아니라 걸린 조건을 보여주고 조건 수정으로 유도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544068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60초를 넘길 때 — </a:t>
            </a: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폴링을 중단하고 재시도 경로 제공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0352"/>
            <a:ext cx="118872" cy="118872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23544" y="4297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84124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화면 구성 — 핵심 4 + 선택 1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109270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5800" y="1828800"/>
            <a:ext cx="1865376" cy="3017520"/>
          </a:xfrm>
          <a:prstGeom prst="roundRect">
            <a:avLst>
              <a:gd name="adj" fmla="val 2941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1832" y="202996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A9A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242316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홈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941832" y="288036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프로필 요약 확인</a:t>
            </a:r>
            <a:endParaRPr lang="en-US" sz="11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추천 종류 선택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941832" y="4224528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41832" y="42245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916936" y="1828800"/>
            <a:ext cx="1865376" cy="3017520"/>
          </a:xfrm>
          <a:prstGeom prst="roundRect">
            <a:avLst>
              <a:gd name="adj" fmla="val 2941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72968" y="202996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A9A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172968" y="242316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프로필 입력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3172968" y="288036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피부 · 향 2스텝</a:t>
            </a:r>
            <a:endParaRPr lang="en-US" sz="11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향 단계는 선택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172968" y="4224528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172968" y="42245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148072" y="1828800"/>
            <a:ext cx="1865376" cy="3017520"/>
          </a:xfrm>
          <a:prstGeom prst="roundRect">
            <a:avLst>
              <a:gd name="adj" fmla="val 2941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04104" y="202996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A9A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404104" y="242316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추천 진행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5404104" y="288036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1초 간격 폴링</a:t>
            </a:r>
            <a:endParaRPr lang="en-US" sz="11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4단계 진행 표시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04104" y="4224528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04104" y="42245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379208" y="1828800"/>
            <a:ext cx="1865376" cy="3017520"/>
          </a:xfrm>
          <a:prstGeom prst="roundRect">
            <a:avLst>
              <a:gd name="adj" fmla="val 2941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635240" y="202996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A9A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635240" y="242316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추천 결과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7635240" y="288036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제품 카드 + 추천 이유</a:t>
            </a:r>
            <a:endParaRPr lang="en-US" sz="11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조합 주의사항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635240" y="4224528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35240" y="42245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9610344" y="1828800"/>
            <a:ext cx="1865376" cy="3017520"/>
          </a:xfrm>
          <a:prstGeom prst="roundRect">
            <a:avLst>
              <a:gd name="adj" fmla="val 2941"/>
            </a:avLst>
          </a:prstGeom>
          <a:solidFill>
            <a:srgbClr val="FAFAFA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866376" y="202996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A9A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9866376" y="242316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히스토리</a:t>
            </a:r>
            <a:endParaRPr lang="en-US" sz="1650" dirty="0"/>
          </a:p>
        </p:txBody>
      </p:sp>
      <p:sp>
        <p:nvSpPr>
          <p:cNvPr id="33" name="Text 31"/>
          <p:cNvSpPr txBox="1"/>
          <p:nvPr/>
        </p:nvSpPr>
        <p:spPr>
          <a:xfrm>
            <a:off x="9866376" y="288036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지난 추천 다시 보기</a:t>
            </a:r>
            <a:endParaRPr lang="en-US" sz="11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화면 재사용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9866376" y="4224528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A9A9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866376" y="42245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선택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51206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프로필 입력이 2스텝이라 디자인 아트보드 기준으로는 6장이 나온다.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0352"/>
            <a:ext cx="118872" cy="118872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23544" y="4297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SCREEN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84124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추천 결과 — 이 서비스의 본체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54480"/>
            <a:ext cx="77687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요약, 주의사항, 제품 카드 세 덩어리로 구성된다. 이 화면이 설득되지 않으면 제품이 성립하지 않는다.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109270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2286000"/>
            <a:ext cx="4754880" cy="338328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0120" y="25146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복합성 피부에 트러블 고민을 고려해서,</a:t>
            </a:r>
            <a:endParaRPr lang="en-US" sz="11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알코올이 들어가지 않은 제품 위주로 골랐어요.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960120" y="3246120"/>
            <a:ext cx="4206240" cy="868680"/>
          </a:xfrm>
          <a:prstGeom prst="roundRect">
            <a:avLst>
              <a:gd name="adj" fmla="val 6316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43000" y="336499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주의   레티놀 + AHA/BHA
</a:t>
            </a: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날 밤에 함께 쓰면 자극이 누적될 수 있어요.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60120" y="4206240"/>
            <a:ext cx="42062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43000" y="431596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시카 수딩 토너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457200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브랜드명 · 토너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143000" y="4864608"/>
            <a:ext cx="2926080" cy="91440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43000" y="4864608"/>
            <a:ext cx="2514600" cy="9144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60520" y="477316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5029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알코올 무첨가, 진정 성분 위주라 트러블 고민에 맞아요.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806440" y="237744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추천 이유 한 줄은 필수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806440" y="2724912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제품 카드마다 왜 뽑혔는지가 붙는다. 비어 있으면 AI 서비스의 버그로 취급한다.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806440" y="352044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주의사항은 출처와 함께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806440" y="3867912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커뮤니티에 도는 성분 충돌설은 근거가 약한 경우가 많아, 출처와 확신도를 함께 표기한다.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806440" y="466344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없는 것은 그리지 않는다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806440" y="5010912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주의사항 0개면 빈 카드가 아니라 영역 자체를 렌더링하지 않는다.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9202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454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3832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시스템 설계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4160520"/>
            <a:ext cx="6473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분리, AI 파이프라인, 두 가지 핵심 기술 판단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0352"/>
            <a:ext cx="118872" cy="118872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23544" y="4297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84124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시스템 아키텍처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54480"/>
            <a:ext cx="77687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호출은 한 방향으로만 흐른다. AI 서비스는 백엔드를 호출하지 않고, 프론트는 AI 서비스에 직접 닿지 않는다.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109270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2240280"/>
            <a:ext cx="10789920" cy="749808"/>
          </a:xfrm>
          <a:prstGeom prst="roundRect">
            <a:avLst>
              <a:gd name="adj" fmla="val 7317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2240280"/>
            <a:ext cx="2011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프론트엔드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063240" y="224028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172200" y="2240280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 4종 · 1초 간격 폴링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469880" y="2240280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공동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80176" y="3035808"/>
            <a:ext cx="201168" cy="201168"/>
          </a:xfrm>
          <a:prstGeom prst="downArrow">
            <a:avLst/>
          </a:prstGeom>
          <a:solidFill>
            <a:srgbClr val="9A9A9A"/>
          </a:solidFill>
          <a:ln w="12700">
            <a:solidFill>
              <a:srgbClr val="9A9A9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236976"/>
            <a:ext cx="10789920" cy="749808"/>
          </a:xfrm>
          <a:prstGeom prst="roundRect">
            <a:avLst>
              <a:gd name="adj" fmla="val 7317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236976"/>
            <a:ext cx="2011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백엔드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063240" y="3236976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+ PostgreSQL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3236976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· 추천 job 생성 및 상태 관리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469880" y="3236976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성미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980176" y="4032504"/>
            <a:ext cx="201168" cy="201168"/>
          </a:xfrm>
          <a:prstGeom prst="downArrow">
            <a:avLst/>
          </a:prstGeom>
          <a:solidFill>
            <a:srgbClr val="9A9A9A"/>
          </a:solidFill>
          <a:ln w="12700">
            <a:solidFill>
              <a:srgbClr val="9A9A9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4233672"/>
            <a:ext cx="10789920" cy="749808"/>
          </a:xfrm>
          <a:prstGeom prst="roundRect">
            <a:avLst>
              <a:gd name="adj" fmla="val 7317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5840" y="4233672"/>
            <a:ext cx="2011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서비스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063240" y="4233672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LangGraph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172200" y="4233672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오케스트레이터 · 에이전트 4종 · 벡터 검색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469880" y="423367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나연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980176" y="5029200"/>
            <a:ext cx="201168" cy="201168"/>
          </a:xfrm>
          <a:prstGeom prst="downArrow">
            <a:avLst/>
          </a:prstGeom>
          <a:solidFill>
            <a:srgbClr val="9A9A9A"/>
          </a:solidFill>
          <a:ln w="12700">
            <a:solidFill>
              <a:srgbClr val="9A9A9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5800" y="5230368"/>
            <a:ext cx="10789920" cy="749808"/>
          </a:xfrm>
          <a:prstGeom prst="roundRect">
            <a:avLst>
              <a:gd name="adj" fmla="val 7317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05840" y="5230368"/>
            <a:ext cx="2011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외부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3063240" y="5230368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API · 벡터 DB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172200" y="5230368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텍스트 생성 · 성분/향수 지식베이스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469880" y="5230368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60350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API 키는 AI 서비스만 보유한다. 백엔드를 교체하거나 AI 쪽을 갈아엎어도 서로 영향이 없다.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0352"/>
            <a:ext cx="118872" cy="118872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23544" y="4297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PIPELINE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84124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파이프라인 — 에이전트 4종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54480"/>
            <a:ext cx="77687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요청의 종류에 따라 두 트랙으로 분기하고, 마지막 설명 생성에서 다시 합류한다.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109270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3127248"/>
            <a:ext cx="1737360" cy="822960"/>
          </a:xfrm>
          <a:prstGeom prst="roundRect">
            <a:avLst>
              <a:gd name="adj" fmla="val 6667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127248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추천 요청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514600" y="3447288"/>
            <a:ext cx="274320" cy="182880"/>
          </a:xfrm>
          <a:prstGeom prst="rightArrow">
            <a:avLst/>
          </a:prstGeom>
          <a:solidFill>
            <a:srgbClr val="9A9A9A"/>
          </a:solidFill>
          <a:ln w="12700">
            <a:solidFill>
              <a:srgbClr val="9A9A9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0" y="2084832"/>
            <a:ext cx="3566160" cy="777240"/>
          </a:xfrm>
          <a:prstGeom prst="roundRect">
            <a:avLst>
              <a:gd name="adj" fmla="val 7059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54680" y="2084832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성분 매칭 에이전트
</a:t>
            </a: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제약 필터 + 벡터 검색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926080" y="2907792"/>
            <a:ext cx="3566160" cy="777240"/>
          </a:xfrm>
          <a:prstGeom prst="roundRect">
            <a:avLst>
              <a:gd name="adj" fmla="val 7059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54680" y="2907792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성분 충돌 검수 에이전트
</a:t>
            </a: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기반 조합 검수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926080" y="4224528"/>
            <a:ext cx="3566160" cy="777240"/>
          </a:xfrm>
          <a:prstGeom prst="roundRect">
            <a:avLst>
              <a:gd name="adj" fmla="val 7059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154680" y="422452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향수 매칭 에이전트
</a:t>
            </a: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노트 계열 기반 벡터 검색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17830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화장품 트랙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389534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향수 트랙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583680" y="3447288"/>
            <a:ext cx="274320" cy="182880"/>
          </a:xfrm>
          <a:prstGeom prst="rightArrow">
            <a:avLst/>
          </a:prstGeom>
          <a:solidFill>
            <a:srgbClr val="9A9A9A"/>
          </a:solidFill>
          <a:ln w="12700">
            <a:solidFill>
              <a:srgbClr val="9A9A9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95160" y="2990088"/>
            <a:ext cx="3017520" cy="1097280"/>
          </a:xfrm>
          <a:prstGeom prst="roundRect">
            <a:avLst>
              <a:gd name="adj" fmla="val 5000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269480" y="2990088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설명 생성 에이전트
</a:t>
            </a:r>
            <a:r>
              <a:rPr lang="en-US" sz="10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트랙 공용 · 추천 이유 작성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55778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i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검색과 규칙 검수는 결정론적으로, 문장 생성만 LLM으로 — 틀리면 안 되는 것과 부드러워야 하는 것을 분리했다.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0352"/>
            <a:ext cx="118872" cy="118872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23544" y="4297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DECISION 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84124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제약 조건 검색 — 임베딩은 부정을 못 잡는다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109270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5800" y="1828800"/>
            <a:ext cx="5166360" cy="1737360"/>
          </a:xfrm>
          <a:prstGeom prst="roundRect">
            <a:avLst>
              <a:gd name="adj" fmla="val 3158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2011680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잘못된 접근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331720"/>
            <a:ext cx="4526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3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“알코올 안 들어간 토너”를</a:t>
            </a:r>
            <a:endParaRPr lang="en-US" sz="135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그대로 임베딩해서 유사도 검색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0175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알코올이 들어간 토너가 상위에 올라온다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1828800"/>
            <a:ext cx="5166360" cy="1737360"/>
          </a:xfrm>
          <a:prstGeom prst="roundRect">
            <a:avLst>
              <a:gd name="adj" fmla="val 3158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29400" y="2011680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적용한 방식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2331720"/>
            <a:ext cx="4526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하드 제약은 메타데이터 필터로,</a:t>
            </a:r>
            <a:endParaRPr lang="en-US" sz="135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소프트 선호만 벡터 유사도로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30175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기피 성분이 결과에 섞이는 일이 구조적으로 불가능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8862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하드 제약 — 필터로 처리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38862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기피 성분, 알러지, 카테고리. 틀리면 안 되는 조건이므로 코드가 강제한다.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480560"/>
            <a:ext cx="10789920" cy="0"/>
          </a:xfrm>
          <a:prstGeom prst="line">
            <a:avLst/>
          </a:prstGeom>
          <a:noFill/>
          <a:ln w="12700">
            <a:solidFill>
              <a:srgbClr val="DCDCD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4617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소프트 선호 — 벡터로 처리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617720" y="461772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피부 고민, 향 계열, 사용 상황. 틀려도 되는, 유사도로 판단할 조건.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" y="5212080"/>
            <a:ext cx="10789920" cy="0"/>
          </a:xfrm>
          <a:prstGeom prst="line">
            <a:avLst/>
          </a:prstGeom>
          <a:noFill/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53492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결과가 0건일 때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4617720" y="53492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카테고리 → 선호 계열 순으로 완화하되 기피 성분은 어떤 단계에서도 풀지 않는다.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0352"/>
            <a:ext cx="118872" cy="118872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23544" y="4297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DECISION 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84124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비동기 통신 — job 접수 후 폴링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54480"/>
            <a:ext cx="77687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추천 1건에 5~10초가 걸린다. 사용자 요청을 붙잡아두지 않고 작업으로 접수한다.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109270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2240280"/>
            <a:ext cx="2491740" cy="1417320"/>
          </a:xfrm>
          <a:prstGeom prst="roundRect">
            <a:avLst>
              <a:gd name="adj" fmla="val 3871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41832" y="2395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A9A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41832" y="2697480"/>
            <a:ext cx="19796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요청 접수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41832" y="3017520"/>
            <a:ext cx="19796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백엔드가 job을 만들고</a:t>
            </a: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즉시 202 + jobId 반환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51860" y="2240280"/>
            <a:ext cx="2491740" cy="1417320"/>
          </a:xfrm>
          <a:prstGeom prst="roundRect">
            <a:avLst>
              <a:gd name="adj" fmla="val 3871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707892" y="2395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A9A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707892" y="2697480"/>
            <a:ext cx="19796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백그라운드 처리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707892" y="3017520"/>
            <a:ext cx="19796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서비스가 검색·검수·생성을</a:t>
            </a: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순차 수행 (30초 상한)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240280"/>
            <a:ext cx="2491740" cy="1417320"/>
          </a:xfrm>
          <a:prstGeom prst="roundRect">
            <a:avLst>
              <a:gd name="adj" fmla="val 3871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73952" y="2395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A9A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2697480"/>
            <a:ext cx="19796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폴링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73952" y="3017520"/>
            <a:ext cx="19796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프론트가 1초 간격으로 조회</a:t>
            </a: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단계를 화면에 표시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983980" y="2240280"/>
            <a:ext cx="2491740" cy="1417320"/>
          </a:xfrm>
          <a:prstGeom prst="roundRect">
            <a:avLst>
              <a:gd name="adj" fmla="val 3871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40012" y="2395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A9A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240012" y="2697480"/>
            <a:ext cx="19796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완료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240012" y="3017520"/>
            <a:ext cx="19796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결과를 DB에 저장하고</a:t>
            </a: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화면으로 전환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85800" y="4023360"/>
            <a:ext cx="10789920" cy="1783080"/>
          </a:xfrm>
          <a:prstGeom prst="roundRect">
            <a:avLst>
              <a:gd name="adj" fmla="val 3077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97280" y="4251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메시지 큐를 쓰지 않은 이유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466344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 + 콜백은 처리 시간이 길고(수십 초~분) 신뢰성이 중요한 워크로드에 맞는 패턴이다.</a:t>
            </a:r>
            <a:endParaRPr lang="en-US" sz="130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규모는 요청량이 적고 처리도 5~10초라 브로커 운영 비용이 얻는 것보다 크고,</a:t>
            </a:r>
            <a:endParaRPr lang="en-US" sz="130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백엔드를 학습하는 팀원의 시간을 메시지 브로커 운영에 쓰게 만든다.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0352"/>
            <a:ext cx="118872" cy="118872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23544" y="4297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84124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품질 관리 — 그럴듯하게 틀리는 것을 막는다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54480"/>
            <a:ext cx="77687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추천 시스템의 최악은 오류가 아니라, 그럴듯해 보이지만 틀린 결과를 확신 있게 내놓는 것이다.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109270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2286000"/>
            <a:ext cx="3413760" cy="1463040"/>
          </a:xfrm>
          <a:prstGeom prst="roundRect">
            <a:avLst>
              <a:gd name="adj" fmla="val 3750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0120" y="2423160"/>
            <a:ext cx="286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제약 위반율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697480"/>
            <a:ext cx="286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3291840"/>
            <a:ext cx="286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기피 성분이 결과에 섞였는가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73880" y="2286000"/>
            <a:ext cx="3413760" cy="1463040"/>
          </a:xfrm>
          <a:prstGeom prst="roundRect">
            <a:avLst>
              <a:gd name="adj" fmla="val 3750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48200" y="2423160"/>
            <a:ext cx="286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recall@5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648200" y="2697480"/>
            <a:ext cx="286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측정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4648200" y="3291840"/>
            <a:ext cx="286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기대 제품군이 상위 5개에 들었는가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61960" y="2286000"/>
            <a:ext cx="3413760" cy="1463040"/>
          </a:xfrm>
          <a:prstGeom prst="roundRect">
            <a:avLst>
              <a:gd name="adj" fmla="val 3750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36280" y="2423160"/>
            <a:ext cx="286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환각율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36280" y="2697480"/>
            <a:ext cx="286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8336280" y="3291840"/>
            <a:ext cx="286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설명에 후보 밖 제품이 등장했는가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384048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골든셋 20~30건으로 측정한다. 세 지표 모두 LLM 없이 순수 코드로 검증 가능하다.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3434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절대 생략하지 않는 안전장치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85800" y="4754880"/>
            <a:ext cx="2560320" cy="868680"/>
          </a:xfrm>
          <a:prstGeom prst="roundRect">
            <a:avLst>
              <a:gd name="adj" fmla="val 6316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86968" y="4754880"/>
            <a:ext cx="2157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기피 성분 메타데이터 필터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429000" y="4754880"/>
            <a:ext cx="2560320" cy="868680"/>
          </a:xfrm>
          <a:prstGeom prst="roundRect">
            <a:avLst>
              <a:gd name="adj" fmla="val 6316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630168" y="4754880"/>
            <a:ext cx="2157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후보 0건이면 LLM 호출 생략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172200" y="4754880"/>
            <a:ext cx="2560320" cy="868680"/>
          </a:xfrm>
          <a:prstGeom prst="roundRect">
            <a:avLst>
              <a:gd name="adj" fmla="val 6316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73368" y="4754880"/>
            <a:ext cx="2157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후보 밖 제품명 언급 금지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915400" y="4754880"/>
            <a:ext cx="2560320" cy="868680"/>
          </a:xfrm>
          <a:prstGeom prst="roundRect">
            <a:avLst>
              <a:gd name="adj" fmla="val 6316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16568" y="4754880"/>
            <a:ext cx="2157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 타임아웃 30초 상한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9202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454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3832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실행 계획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4160520"/>
            <a:ext cx="6473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 스택, 4주 일정, 역할 분담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0352"/>
            <a:ext cx="118872" cy="118872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23544" y="4297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&amp; SCHEDULE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84124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기술 스택과 4주 일정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1092708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프론트엔드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7830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1671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백엔드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16712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· PostgreSQL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5511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서비스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255117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LangGraph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93522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331720" y="293522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 DB · 임베딩 모델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3192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인프라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31927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178308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1주차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86600" y="17830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계약 확정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503920" y="178308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응답 스키마 고정 · mock 서버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200" y="2112264"/>
            <a:ext cx="5303520" cy="0"/>
          </a:xfrm>
          <a:prstGeom prst="line">
            <a:avLst/>
          </a:prstGeom>
          <a:noFill/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72200" y="222199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2주차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086600" y="22219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각자 구현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503920" y="2221992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에이전트 4종 · CRUD 전체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72200" y="2551176"/>
            <a:ext cx="5303520" cy="0"/>
          </a:xfrm>
          <a:prstGeom prst="line">
            <a:avLst/>
          </a:prstGeom>
          <a:noFill/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72200" y="266090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3주차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86600" y="266090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통합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503920" y="266090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연동 · 화면 완성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72200" y="2990088"/>
            <a:ext cx="5303520" cy="0"/>
          </a:xfrm>
          <a:prstGeom prst="line">
            <a:avLst/>
          </a:prstGeom>
          <a:noFill/>
          <a:ln w="12700">
            <a:solidFill>
              <a:srgbClr val="DCDC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72200" y="309981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4주차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086600" y="309981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503920" y="309981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평가 스크립트 · 데모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85800" y="4114800"/>
            <a:ext cx="10789920" cy="1691640"/>
          </a:xfrm>
          <a:prstGeom prst="roundRect">
            <a:avLst>
              <a:gd name="adj" fmla="val 3243"/>
            </a:avLst>
          </a:prstGeom>
          <a:solidFill>
            <a:srgbClr val="F1F1F1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97280" y="431596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일정의 핵심 — 1주차 mock 서버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1097280" y="470916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서비스가 완성되기 전에 같은 응답 스키마로 고정 응답을 주는 mock 서버를 먼저 띄운다.</a:t>
            </a:r>
            <a:endParaRPr lang="en-US" sz="125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지연과 실패까지 흉내낼 수 있게 만들어, 백엔드와 프론트가 AI 진행 속도와 무관하게 완성될 수 있게 한다.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0352"/>
            <a:ext cx="118872" cy="11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23544" y="4297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OUTCOME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84124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역할 분담과 기대 성과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2880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김나연 — AI 서비스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8600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오케스트레이터와 에이전트 4종 설계·구현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제약 조건 검색과 벡터 인덱싱 파이프라인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응답 스키마 정의와 mock 서버 제공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설계와 평가 스크립트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82880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성미 — 백엔드 · 통합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228600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프로젝트와 DB 스키마 설계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엔드포인트와 검증·예외 처리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추천 job 생성과 AI 서비스 상태 릴레이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프론트엔드 API 연동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3977640"/>
            <a:ext cx="10789920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2062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프로젝트로 얻는 것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572000"/>
            <a:ext cx="8092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제약 조건을 코드로 강제하고 판단만 모델에 맡기는 경계 설계,</a:t>
            </a:r>
            <a:endParaRPr lang="en-US" sz="1800" dirty="0"/>
          </a:p>
          <a:p>
            <a:pPr marL="0" indent="0">
              <a:lnSpc>
                <a:spcPts val="3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비동기 작업 상태를 명시적으로 모델링하는 통신 구조,</a:t>
            </a:r>
            <a:endParaRPr lang="en-US" sz="1800" dirty="0"/>
          </a:p>
          <a:p>
            <a:pPr marL="0" indent="0">
              <a:lnSpc>
                <a:spcPts val="3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그리고 결과 품질을 코드로 검증하는 평가 루프.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5943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A9A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musely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1484</Words>
  <Application>Microsoft Office PowerPoint</Application>
  <PresentationFormat>와이드스크린</PresentationFormat>
  <Paragraphs>309</Paragraphs>
  <Slides>19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Arial</vt:lpstr>
      <vt:lpstr>Calibri</vt:lpstr>
      <vt:lpstr>Cambria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musely</dc:title>
  <dc:subject>PptxGenJS Presentation</dc:subject>
  <dc:creator>김나연</dc:creator>
  <cp:lastModifiedBy>나연 김</cp:lastModifiedBy>
  <cp:revision>2</cp:revision>
  <dcterms:created xsi:type="dcterms:W3CDTF">2026-09-17T04:50:53Z</dcterms:created>
  <dcterms:modified xsi:type="dcterms:W3CDTF">2026-09-17T04:53:36Z</dcterms:modified>
</cp:coreProperties>
</file>